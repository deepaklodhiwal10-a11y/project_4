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Detected outliers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Outlier Count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Memory</c:v>
                </c:pt>
                <c:pt idx="1">
                  <c:v>Battery</c:v>
                </c:pt>
                <c:pt idx="2">
                  <c:v>Rear Cam</c:v>
                </c:pt>
                <c:pt idx="3">
                  <c:v>Front Cam</c:v>
                </c:pt>
                <c:pt idx="4">
                  <c:v>AI Lens</c:v>
                </c:pt>
                <c:pt idx="5">
                  <c:v>Height</c:v>
                </c:pt>
                <c:pt idx="6">
                  <c:v>Price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152</c:v>
                </c:pt>
                <c:pt idx="2">
                  <c:v>39</c:v>
                </c:pt>
                <c:pt idx="3">
                  <c:v>13</c:v>
                </c:pt>
                <c:pt idx="4">
                  <c:v>34</c:v>
                </c:pt>
                <c:pt idx="5">
                  <c:v>33</c:v>
                </c:pt>
                <c:pt idx="6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20-4400-8172-83B4C921F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Lower error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KNN</c:v>
                </c:pt>
                <c:pt idx="2">
                  <c:v>Decision Tree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E7-4860-A540-1F82F38B37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KNN</c:v>
                </c:pt>
                <c:pt idx="2">
                  <c:v>Decision Tree</c:v>
                </c:pt>
                <c:pt idx="3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</c:v>
                </c:pt>
                <c:pt idx="1">
                  <c:v>0.23</c:v>
                </c:pt>
                <c:pt idx="2">
                  <c:v>0.23</c:v>
                </c:pt>
                <c:pt idx="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E7-4860-A540-1F82F38B3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Higher R²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KNN</c:v>
                </c:pt>
                <c:pt idx="2">
                  <c:v>Decision Tree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</c:v>
                </c:pt>
                <c:pt idx="1">
                  <c:v>0.81</c:v>
                </c:pt>
                <c:pt idx="2">
                  <c:v>0.8</c:v>
                </c:pt>
                <c:pt idx="3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AA-48B8-9EB9-6F08BE336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Engineered-feature R²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KNN</c:v>
                </c:pt>
                <c:pt idx="2">
                  <c:v>Tree</c:v>
                </c:pt>
                <c:pt idx="3">
                  <c:v>RF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</c:v>
                </c:pt>
                <c:pt idx="1">
                  <c:v>0.67</c:v>
                </c:pt>
                <c:pt idx="2">
                  <c:v>0.84</c:v>
                </c:pt>
                <c:pt idx="3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C-444C-B781-87FC2FE10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ne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710" y="640080"/>
            <a:ext cx="4721167" cy="37647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05840"/>
            <a:ext cx="6460166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337"/>
                </a:solidFill>
              </a:defRPr>
            </a:pPr>
            <a:r>
              <a:rPr dirty="0"/>
              <a:t>Feature Extraction and</a:t>
            </a:r>
            <a:br>
              <a:rPr dirty="0"/>
            </a:br>
            <a:r>
              <a:rPr dirty="0"/>
              <a:t>Price Prediction for Mobile Phones</a:t>
            </a:r>
          </a:p>
          <a:p>
            <a:pPr>
              <a:defRPr sz="1800">
                <a:solidFill>
                  <a:srgbClr val="3764A0"/>
                </a:solidFill>
              </a:defRPr>
            </a:pPr>
            <a:r>
              <a:rPr dirty="0"/>
              <a:t>Machine Learning Project Presentation</a:t>
            </a:r>
            <a:endParaRPr lang="en-US" dirty="0"/>
          </a:p>
          <a:p>
            <a:pPr>
              <a:defRPr sz="1800">
                <a:solidFill>
                  <a:srgbClr val="3764A0"/>
                </a:solidFill>
              </a:defRPr>
            </a:pPr>
            <a:r>
              <a:rPr lang="en-IN" dirty="0"/>
              <a:t>                                                                                          ~ Deepak Rajput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4967748"/>
            <a:ext cx="10607040" cy="141732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rPr dirty="0"/>
              <a:t>What I did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rPr dirty="0"/>
              <a:t>Built an end-to-end workflow: loaded the mobile dataset, cleaned it, engineered useful features, explored relationships, trained regression models, compared performance, and selected the best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What problem am I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Goal: predict the price of a mobile phone from its specifications.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Understand which hardware characteristics are associated with higher prices.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Prepare raw mobile-phone data for machine learning.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Compare multiple regression algorithms and select the best-performing model.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Use the model results to explain price drivers in a business-friendly way.</a:t>
            </a:r>
          </a:p>
        </p:txBody>
      </p:sp>
      <p:pic>
        <p:nvPicPr>
          <p:cNvPr id="5" name="Picture 4" descr="phone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71600"/>
            <a:ext cx="301752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257800"/>
            <a:ext cx="10789920" cy="82296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What I say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My project combines EDA, feature engineering and regression modeling to estimate smartphone prices from product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First step: understand the raw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Dataset size: 541 mobile-phone records and 12 original columns.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Important fields: Model, Colour, Memory, RAM, Battery, cameras, AI Lens, Mobile Height, Processor and Price.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Example records include Infinix SMART 7, MOTOROLA G32 and POCO C50.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The target variable is Prize (price).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754880"/>
            <a:ext cx="5029200" cy="96012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Key number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541 rows  |  12 original columns</a:t>
            </a:r>
          </a:p>
        </p:txBody>
      </p:sp>
      <p:pic>
        <p:nvPicPr>
          <p:cNvPr id="6" name="Picture 5" descr="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3891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3.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Make the dataset analysis-ready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Removed the unnecessary Unnamed: 0 index field from the analytical columns.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Renamed Battery_ → Battery_Level and Processor_ → Processor_Type.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Converted Front Camera and Rear Camera from text such as “50MP” into numeric megapixels.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Converted Prize from text containing commas/currency formatting into numeric values.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Checked missing values: every column had 0 null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74920"/>
            <a:ext cx="4937760" cy="822960"/>
          </a:xfrm>
          <a:prstGeom prst="roundRect">
            <a:avLst/>
          </a:prstGeom>
          <a:solidFill>
            <a:srgbClr val="EBF5EF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Result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541 rows × 11 cleaned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5074920"/>
            <a:ext cx="5303520" cy="82296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Why this matters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Models need consistent numeric inputs; cleaning also prevents incorrect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4.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I used the IQR method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3258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82D34"/>
                </a:solidFill>
              </a:defRPr>
            </a:pPr>
            <a:r>
              <a:t>• I calculated Q1, Q3 and IQR = Q3 − Q1.</a:t>
            </a:r>
          </a:p>
          <a:p>
            <a:pPr>
              <a:spcAft>
                <a:spcPts val="900"/>
              </a:spcAft>
              <a:defRPr sz="1300">
                <a:solidFill>
                  <a:srgbClr val="282D34"/>
                </a:solidFill>
              </a:defRPr>
            </a:pPr>
            <a:r>
              <a:t>• Outlier limits were Q1 − 1.5×IQR and Q3 + 1.5×IQR.</a:t>
            </a:r>
          </a:p>
          <a:p>
            <a:pPr>
              <a:spcAft>
                <a:spcPts val="900"/>
              </a:spcAft>
              <a:defRPr sz="1300">
                <a:solidFill>
                  <a:srgbClr val="282D34"/>
                </a:solidFill>
              </a:defRPr>
            </a:pPr>
            <a:r>
              <a:t>• Battery_Level had the highest number of detected outliers (152).</a:t>
            </a:r>
          </a:p>
          <a:p>
            <a:pPr>
              <a:spcAft>
                <a:spcPts val="900"/>
              </a:spcAft>
              <a:defRPr sz="1300">
                <a:solidFill>
                  <a:srgbClr val="282D34"/>
                </a:solidFill>
              </a:defRPr>
            </a:pPr>
            <a:r>
              <a:t>• Price had 25 detected outliers.</a:t>
            </a:r>
          </a:p>
          <a:p>
            <a:pPr>
              <a:spcAft>
                <a:spcPts val="900"/>
              </a:spcAft>
              <a:defRPr sz="1300">
                <a:solidFill>
                  <a:srgbClr val="282D34"/>
                </a:solidFill>
              </a:defRPr>
            </a:pPr>
            <a:r>
              <a:t>• Instead of deleting records, the notebook later applies IQR capping/winsorization to preserve all 541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5. Distribution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Skewness and kurtosis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Most numerical features are not normally distributed.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RAM is approximately symmetric (skewness ≈ 0.07).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Battery_Level is highly left-skewed (−3.30).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Price is highly right-skewed (2.43).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Mobile Height has very high kurtosis (48.22), indicating heavy tails/extreme observations.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These findings support careful outlier handling before modeling.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74920"/>
            <a:ext cx="10515600" cy="82296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Simple explanation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Skewness tells me whether values lean to one side. Kurtosis tells me how heavy the tails/extreme values 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6.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Create features that carry more business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Total_Camera_MP = Rear Camera + Front Camera.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Brand extracted from the Model name.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Processor Brand extracted from Processor_Type.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Battery_per_GB = Battery_Level ÷ RAM.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Memory_per_GB = Memory ÷ RAM.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Created phone flags: Gaming Phone, Camera Phone, Performance Phone and Budget Phone.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Created Price Segment: Budget ≤ ₹10,000; Mid-Range ₹10,000–₹20,000; Premium &gt; ₹20,000.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Impact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Feature engineering expanded the dataset from 11 to 21 analytical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7. Market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Turn specifications into meaningful phone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💰 Budget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Price up to ₹10,000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📱 Mid-Range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₹10,000 to ₹20,000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⭐ Premium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Above ₹20,000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D34"/>
                </a:solidFill>
              </a:defRPr>
            </a:pPr>
            <a:r>
              <a:t>• Gaming Phone: RAM ≥ 8 GB, battery ≥ 5000 mAh and qualifying gaming chipset.</a:t>
            </a:r>
          </a:p>
          <a:p>
            <a:pPr>
              <a:spcAft>
                <a:spcPts val="900"/>
              </a:spcAft>
              <a:defRPr sz="1600">
                <a:solidFill>
                  <a:srgbClr val="282D34"/>
                </a:solidFill>
              </a:defRPr>
            </a:pPr>
            <a:r>
              <a:t>• Camera Phone: rear camera ≥ 64 MP and front camera ≥ 16 MP.</a:t>
            </a:r>
          </a:p>
          <a:p>
            <a:pPr>
              <a:spcAft>
                <a:spcPts val="900"/>
              </a:spcAft>
              <a:defRPr sz="1600">
                <a:solidFill>
                  <a:srgbClr val="282D34"/>
                </a:solidFill>
              </a:defRPr>
            </a:pPr>
            <a:r>
              <a:t>• Performance Phone: RAM ≥ 8 GB.</a:t>
            </a:r>
          </a:p>
          <a:p>
            <a:pPr>
              <a:spcAft>
                <a:spcPts val="900"/>
              </a:spcAft>
              <a:defRPr sz="1600">
                <a:solidFill>
                  <a:srgbClr val="282D34"/>
                </a:solidFill>
              </a:defRPr>
            </a:pPr>
            <a:r>
              <a:t>• Budget Phone: price ≤ ₹10,000.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8.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What relationships did I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RAM vs Memory: higher RAM configurations generally come with higher storage.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RAM vs Price: price rises visibly as RAM increases from lower to higher tiers.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Memory vs Price: higher storage is associated with higher retail prices.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Total Camera MP vs Price: higher overall camera resolution generally corresponds to higher price.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Gaming, camera and performance-oriented phones show price premiums compared with standard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74920"/>
            <a:ext cx="10607040" cy="82296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Important correlation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Total Camera MP vs Rear Camera ≈ +0.98; Performance Phone vs RAM ≈ +0.84.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9. Feature Importance &amp; Price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Which inputs help explain price?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The notebook identifies Processor Brand, Total Camera MP and ratio features such as Memory per GB among the important price drivers.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Tree-based models can capture non-linear interactions between specifications.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Low-importance flag variables can potentially be removed for a simpler model.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Feature importance helps convert a prediction model into a business explanation.</a:t>
            </a:r>
          </a:p>
        </p:txBody>
      </p:sp>
      <p:pic>
        <p:nvPicPr>
          <p:cNvPr id="5" name="Picture 4" descr="phone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17320"/>
            <a:ext cx="347472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4480560"/>
            <a:ext cx="4206240" cy="123444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Business meaning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A phone's price is not determined by one specification; combinations of processor, memory and camera capability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10. Prepare Data for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Select X and y, split, then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Predictors (X): Brand, Memory, RAM, Battery_Level, Rear Camera, Front Camera, AI Lens, Mobile Height and Processor Brand.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Target (y): Prize.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X shape = 541 rows × 9 selected predictors.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Used an 80/20 train-test split to evaluate generalization on unseen data.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Standardized continuous numerical features with StandardScaler.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Scaler was fitted only on X_train and then applied to X_test to avoid data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10515600" cy="77724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Workflow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Raw data → X/y → 80/20 split → Standardization → Model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11. Models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I compared four regression algorithms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6675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269480" y="1325880"/>
          <a:ext cx="4389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12. Model Evaluation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Random Forest performed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Random Forest: MAE ≈ 0.08, RMSE ≈ 0.19, R² ≈ 0.87 on the first feature set.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Linear Regression: R² ≈ 0.72.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KNN Regressor: R² ≈ 0.81.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Decision Tree: R² ≈ 0.80.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Random Forest had the lowest error and highest R², so it was selected as the primary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983480"/>
            <a:ext cx="4754880" cy="914400"/>
          </a:xfrm>
          <a:prstGeom prst="roundRect">
            <a:avLst/>
          </a:prstGeom>
          <a:solidFill>
            <a:srgbClr val="EBF5EF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Final selection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Random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983480"/>
            <a:ext cx="5212080" cy="91440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Interpretation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R² ≈ 0.87 means the model explains about 87% of the observed price variance in that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13. Engineered-Feature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I also tested a second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Second feature set used Brand, Processor Brand, Mobile Height, Total Camera MP, Gaming Phone, Camera Phone, Performance Phone, Battery per GB and Memory per GB.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Same 80/20 train-test strategy was used.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Results: Linear Regression R² 0.68; KNN 0.67; Decision Tree 0.84; Random Forest 0.89.</a:t>
            </a:r>
          </a:p>
          <a:p>
            <a:pPr>
              <a:spcAft>
                <a:spcPts val="900"/>
              </a:spcAft>
              <a:defRPr sz="1700">
                <a:solidFill>
                  <a:srgbClr val="282D34"/>
                </a:solidFill>
              </a:defRPr>
            </a:pPr>
            <a:r>
              <a:t>• Random Forest again performed best, improving R² to about 0.89 and RMSE to about 0.17.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543800" y="150876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10515600" cy="731520"/>
          </a:xfrm>
          <a:prstGeom prst="roundRect">
            <a:avLst/>
          </a:prstGeom>
          <a:solidFill>
            <a:srgbClr val="F0F4F9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What this shows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Useful feature engineering can improve the model's ability to capture price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337"/>
                </a:solidFill>
              </a:defRPr>
            </a:pPr>
            <a:r>
              <a:t>14. Final Conclusion &amp; 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E76"/>
                </a:solidFill>
              </a:defRPr>
            </a:pPr>
            <a:r>
              <a:t>How to present the project confidently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Started with 541 mobile records and cleaned the raw columns.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Checked nulls, outliers, skewness and kurtosis.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Created meaningful features and price/phone segments.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Used EDA to identify relationships between specifications and price.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Prepared the data with train-test splitting and standardization.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Compared four regression models.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Random Forest was the strongest model; the engineered-feature version reached about 0.89 R².</a:t>
            </a:r>
          </a:p>
          <a:p>
            <a:pPr>
              <a:spcAft>
                <a:spcPts val="900"/>
              </a:spcAft>
              <a:defRPr sz="1400">
                <a:solidFill>
                  <a:srgbClr val="282D34"/>
                </a:solidFill>
              </a:defRPr>
            </a:pPr>
            <a:r>
              <a:t>• Main learning: good preprocessing + meaningful feature engineering + model comparison produces a stronger ML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49240"/>
            <a:ext cx="10698480" cy="868680"/>
          </a:xfrm>
          <a:prstGeom prst="roundRect">
            <a:avLst/>
          </a:prstGeom>
          <a:solidFill>
            <a:srgbClr val="EFF5FC"/>
          </a:solidFill>
          <a:ln>
            <a:solidFill>
              <a:srgbClr val="37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500" b="1">
                <a:solidFill>
                  <a:srgbClr val="182337"/>
                </a:solidFill>
              </a:defRPr>
            </a:pPr>
            <a:r>
              <a:t>Closing line to say</a:t>
            </a:r>
          </a:p>
          <a:p>
            <a:pPr>
              <a:defRPr sz="1200">
                <a:solidFill>
                  <a:srgbClr val="282D34"/>
                </a:solidFill>
              </a:defRPr>
            </a:pPr>
            <a:r>
              <a:t>“My project shows how smartphone specifications can be transformed into useful features and used to build a model that estimates mobile prices with strong predictive performance.”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1389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aartikinjal6@outlook.com</cp:lastModifiedBy>
  <cp:revision>2</cp:revision>
  <dcterms:created xsi:type="dcterms:W3CDTF">2013-01-27T09:14:16Z</dcterms:created>
  <dcterms:modified xsi:type="dcterms:W3CDTF">2026-08-23T17:03:29Z</dcterms:modified>
  <cp:category/>
</cp:coreProperties>
</file>